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46920" y="868680"/>
            <a:ext cx="1417320" cy="1417320"/>
          </a:xfrm>
          <a:prstGeom prst="ellipse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69880" y="2057400"/>
            <a:ext cx="566928" cy="566928"/>
          </a:xfrm>
          <a:prstGeom prst="ellipse">
            <a:avLst/>
          </a:prstGeom>
          <a:solidFill>
            <a:srgbClr val="2A7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89720" y="4526280"/>
            <a:ext cx="1965960" cy="1965960"/>
          </a:xfrm>
          <a:prstGeom prst="ellipse">
            <a:avLst/>
          </a:prstGeom>
          <a:solidFill>
            <a:srgbClr val="0C3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0" y="5074920"/>
            <a:ext cx="685800" cy="685800"/>
          </a:xfrm>
          <a:prstGeom prst="ellipse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115568"/>
            <a:ext cx="7498079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ptos Display"/>
              </a:rPr>
              <a:t>SEEKER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77724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>
                <a:solidFill>
                  <a:srgbClr val="DCE6E2"/>
                </a:solidFill>
                <a:latin typeface="Aptos"/>
              </a:rPr>
              <a:t>An Islamic guidance &amp; learning platform
for a connected, continuous journey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7033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29737"/>
                </a:solidFill>
                <a:latin typeface="Aptos"/>
              </a:rPr>
              <a:t>HUZAIF MUSHTAQ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050791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CCCC7"/>
                </a:solidFill>
                <a:latin typeface="Aptos"/>
              </a:rPr>
              <a:t>BCA • Software Developer • Founder / Builder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892040"/>
            <a:ext cx="7680960" cy="868680"/>
          </a:xfrm>
          <a:prstGeom prst="roundRect">
            <a:avLst/>
          </a:prstGeom>
          <a:solidFill>
            <a:srgbClr val="164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4965192"/>
            <a:ext cx="365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C29737"/>
                </a:solidFill>
                <a:latin typeface="Georgia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5056631"/>
            <a:ext cx="690372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Georgia"/>
              </a:rPr>
              <a:t>Use whatever ability Allah has given you to benefit His creation.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55664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B2C1BD"/>
                </a:solidFill>
                <a:latin typeface="Aptos"/>
              </a:rPr>
              <a:t>SEEKER  •  HUZAIF MUSHTAQ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B2C1BD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C29737"/>
                </a:solidFill>
                <a:latin typeface="Aptos"/>
              </a:rPr>
              <a:t>01 • ORIGIN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881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82221"/>
                </a:solidFill>
                <a:latin typeface="Aptos Display"/>
              </a:rPr>
              <a:t>The idea began with service, not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5272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 i="0">
                <a:solidFill>
                  <a:srgbClr val="636D6A"/>
                </a:solidFill>
                <a:latin typeface="Aptos"/>
              </a:rPr>
              <a:t>Seeker started as a personal response to a principle learned from childhood.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34747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7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83080"/>
            <a:ext cx="54864" cy="3429000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29384"/>
            <a:ext cx="31546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82221"/>
                </a:solidFill>
                <a:latin typeface="Aptos Display"/>
              </a:rPr>
              <a:t>TARBIYAH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3154679" cy="2770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i="0">
                <a:solidFill>
                  <a:srgbClr val="1E2A28"/>
                </a:solidFill>
                <a:latin typeface="Aptos"/>
              </a:rPr>
              <a:t>My father was my first teacher. He taught me faith, character, spiritual purification, a clean conscience, compassion and service to mankind.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783080"/>
            <a:ext cx="34747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7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783080"/>
            <a:ext cx="54864" cy="3429000"/>
          </a:xfrm>
          <a:prstGeom prst="rect">
            <a:avLst/>
          </a:prstGeom>
          <a:solidFill>
            <a:srgbClr val="186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929384"/>
            <a:ext cx="31546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82221"/>
                </a:solidFill>
                <a:latin typeface="Aptos Display"/>
              </a:rPr>
              <a:t>A PERSONAL RESPONSIBILITY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331720"/>
            <a:ext cx="3154679" cy="2770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i="0">
                <a:solidFill>
                  <a:srgbClr val="1E2A28"/>
                </a:solidFill>
                <a:latin typeface="Aptos"/>
              </a:rPr>
              <a:t>His message was simple: whatever ability Allah gives you, use it to benefit His creation—even if the benefit reaches only one person.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783080"/>
            <a:ext cx="34747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7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4" y="1783080"/>
            <a:ext cx="54864" cy="3429000"/>
          </a:xfrm>
          <a:prstGeom prst="rect">
            <a:avLst/>
          </a:prstGeom>
          <a:solidFill>
            <a:srgbClr val="2A7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8744" y="1929384"/>
            <a:ext cx="31546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82221"/>
                </a:solidFill>
                <a:latin typeface="Aptos Display"/>
              </a:rPr>
              <a:t>THE 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331720"/>
            <a:ext cx="3154679" cy="2770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i="0">
                <a:solidFill>
                  <a:srgbClr val="1E2A28"/>
                </a:solidFill>
                <a:latin typeface="Aptos"/>
              </a:rPr>
              <a:t>I wanted to use my own ability—technology—to create something beneficial rather than keep the skill only for myself.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532120"/>
            <a:ext cx="10515600" cy="658368"/>
          </a:xfrm>
          <a:prstGeom prst="roundRect">
            <a:avLst/>
          </a:prstGeom>
          <a:solidFill>
            <a:srgbClr val="F1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5605272"/>
            <a:ext cx="365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C29737"/>
                </a:solidFill>
                <a:latin typeface="Georgia"/>
              </a:rPr>
              <a:t>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696712"/>
            <a:ext cx="9738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 i="1">
                <a:solidFill>
                  <a:srgbClr val="082221"/>
                </a:solidFill>
                <a:latin typeface="Georgia"/>
              </a:rPr>
              <a:t>The first question was not “What app should I build?” It was “What can I do that may benefit people?”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55664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89908D"/>
                </a:solidFill>
                <a:latin typeface="Aptos"/>
              </a:rPr>
              <a:t>SEEKER  •  HUZAIF MUSHTAQ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89908D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C29737"/>
                </a:solidFill>
                <a:latin typeface="Aptos"/>
              </a:rPr>
              <a:t>02 • THE TRIGGER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881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82221"/>
                </a:solidFill>
                <a:latin typeface="Aptos Display"/>
              </a:rPr>
              <a:t>A meeting turned an intention into a product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5272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 i="0">
                <a:solidFill>
                  <a:srgbClr val="636D6A"/>
                </a:solidFill>
                <a:latin typeface="Aptos"/>
              </a:rPr>
              <a:t>The original audience was close to home: people who wanted to learn from Peer Sahib.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48716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7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01168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29737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487168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82221"/>
                </a:solidFill>
                <a:latin typeface="Aptos Display"/>
              </a:rPr>
              <a:t>Encounter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999232"/>
            <a:ext cx="2057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 i="0">
                <a:solidFill>
                  <a:srgbClr val="1E2A28"/>
                </a:solidFill>
                <a:latin typeface="Aptos"/>
              </a:rPr>
              <a:t>I met my Peer Sahib at a family function and observed him closely.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82111" y="3182112"/>
            <a:ext cx="274320" cy="274320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Triangle 11"/>
          <p:cNvSpPr/>
          <p:nvPr/>
        </p:nvSpPr>
        <p:spPr>
          <a:xfrm>
            <a:off x="3346703" y="3182112"/>
            <a:ext cx="201168" cy="274320"/>
          </a:xfrm>
          <a:prstGeom prst="rtTriangle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20439" y="1828800"/>
            <a:ext cx="248716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7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01168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29737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487168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82221"/>
                </a:solidFill>
                <a:latin typeface="Aptos Display"/>
              </a:rPr>
              <a:t>Realisation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999232"/>
            <a:ext cx="2057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 i="0">
                <a:solidFill>
                  <a:srgbClr val="1E2A28"/>
                </a:solidFill>
                <a:latin typeface="Aptos"/>
              </a:rPr>
              <a:t>I felt that people could benefit from his teachings, way of life and guidance.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2471" y="3182112"/>
            <a:ext cx="274320" cy="274320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>
            <a:off x="6227063" y="3182112"/>
            <a:ext cx="201168" cy="274320"/>
          </a:xfrm>
          <a:prstGeom prst="rtTriangle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1828800"/>
            <a:ext cx="248716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7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01168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29737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487168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82221"/>
                </a:solidFill>
                <a:latin typeface="Aptos Display"/>
              </a:rPr>
              <a:t>Barrier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999232"/>
            <a:ext cx="2057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 i="0">
                <a:solidFill>
                  <a:srgbClr val="1E2A28"/>
                </a:solidFill>
                <a:latin typeface="Aptos"/>
              </a:rPr>
              <a:t>Work, distance, responsibilities and circumstances prevent many people from regular access.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42832" y="3182112"/>
            <a:ext cx="274320" cy="274320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Triangle 23"/>
          <p:cNvSpPr/>
          <p:nvPr/>
        </p:nvSpPr>
        <p:spPr>
          <a:xfrm>
            <a:off x="9107424" y="3182112"/>
            <a:ext cx="201168" cy="274320"/>
          </a:xfrm>
          <a:prstGeom prst="rtTriangle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81159" y="1828800"/>
            <a:ext cx="248716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7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39" y="201168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29737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39" y="2487168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82221"/>
                </a:solidFill>
                <a:latin typeface="Aptos Display"/>
              </a:rPr>
              <a:t>Idea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39" y="2999232"/>
            <a:ext cx="2057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 i="0">
                <a:solidFill>
                  <a:srgbClr val="1E2A28"/>
                </a:solidFill>
                <a:latin typeface="Aptos"/>
              </a:rPr>
              <a:t>On the way home, I strongly wanted to create a useful digital bridge.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532120"/>
            <a:ext cx="10241280" cy="658368"/>
          </a:xfrm>
          <a:prstGeom prst="roundRect">
            <a:avLst/>
          </a:prstGeom>
          <a:solidFill>
            <a:srgbClr val="F1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" y="5605272"/>
            <a:ext cx="365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C29737"/>
                </a:solidFill>
                <a:latin typeface="Georgia"/>
              </a:rPr>
              <a:t>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696712"/>
            <a:ext cx="9464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 i="1">
                <a:solidFill>
                  <a:srgbClr val="082221"/>
                </a:solidFill>
                <a:latin typeface="Georgia"/>
              </a:rPr>
              <a:t>Seeker was initially imagined around Peer Sahib and people who wanted to learn from him.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455664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89908D"/>
                </a:solidFill>
                <a:latin typeface="Aptos"/>
              </a:rPr>
              <a:t>SEEKER  •  HUZAIF MUSHTAQ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89908D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4747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C29737"/>
                </a:solidFill>
                <a:latin typeface="Aptos"/>
              </a:rPr>
              <a:t>03 • FIRST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881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 Display"/>
              </a:rPr>
              <a:t>The original concept was already broader than a single teaching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5272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 i="0">
                <a:solidFill>
                  <a:srgbClr val="C5D3CF"/>
                </a:solidFill>
                <a:latin typeface="Aptos"/>
              </a:rPr>
              <a:t>The first Seeker vision combined guidance with everyday Islamic resources.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2560320" cy="3337560"/>
          </a:xfrm>
          <a:prstGeom prst="roundRect">
            <a:avLst/>
          </a:prstGeom>
          <a:solidFill>
            <a:srgbClr val="15433F"/>
          </a:solidFill>
          <a:ln>
            <a:solidFill>
              <a:srgbClr val="2F5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00200"/>
            <a:ext cx="54864" cy="3337560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46504"/>
            <a:ext cx="2240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 Display"/>
              </a:rPr>
              <a:t>GUIDANCE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2240279" cy="2679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i="0">
                <a:solidFill>
                  <a:srgbClr val="DCE4E1"/>
                </a:solidFill>
                <a:latin typeface="Aptos"/>
              </a:rPr>
              <a:t>A digital way to help people who wanted to learn from Peer Sahib.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600200"/>
            <a:ext cx="2560320" cy="3337560"/>
          </a:xfrm>
          <a:prstGeom prst="roundRect">
            <a:avLst/>
          </a:prstGeom>
          <a:solidFill>
            <a:srgbClr val="15433F"/>
          </a:solidFill>
          <a:ln>
            <a:solidFill>
              <a:srgbClr val="2F5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56432" y="1600200"/>
            <a:ext cx="54864" cy="3337560"/>
          </a:xfrm>
          <a:prstGeom prst="rect">
            <a:avLst/>
          </a:prstGeom>
          <a:solidFill>
            <a:srgbClr val="186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9312" y="1746504"/>
            <a:ext cx="2240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 Display"/>
              </a:rPr>
              <a:t>QURAN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148840"/>
            <a:ext cx="2240279" cy="2679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i="0">
                <a:solidFill>
                  <a:srgbClr val="DCE4E1"/>
                </a:solidFill>
                <a:latin typeface="Aptos"/>
              </a:rPr>
              <a:t>A central source of Islamic knowledge and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7064" y="1600200"/>
            <a:ext cx="2560320" cy="3337560"/>
          </a:xfrm>
          <a:prstGeom prst="roundRect">
            <a:avLst/>
          </a:prstGeom>
          <a:solidFill>
            <a:srgbClr val="15433F"/>
          </a:solidFill>
          <a:ln>
            <a:solidFill>
              <a:srgbClr val="2F5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7064" y="1600200"/>
            <a:ext cx="54864" cy="3337560"/>
          </a:xfrm>
          <a:prstGeom prst="rect">
            <a:avLst/>
          </a:prstGeom>
          <a:solidFill>
            <a:srgbClr val="2A7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1746504"/>
            <a:ext cx="2240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 Display"/>
              </a:rPr>
              <a:t>HADITH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148840"/>
            <a:ext cx="2240279" cy="2679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i="0">
                <a:solidFill>
                  <a:srgbClr val="DCE4E1"/>
                </a:solidFill>
                <a:latin typeface="Aptos"/>
              </a:rPr>
              <a:t>Access to Prophetic knowledge and practical guidance.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1600200"/>
            <a:ext cx="2560320" cy="3337560"/>
          </a:xfrm>
          <a:prstGeom prst="roundRect">
            <a:avLst/>
          </a:prstGeom>
          <a:solidFill>
            <a:srgbClr val="15433F"/>
          </a:solidFill>
          <a:ln>
            <a:solidFill>
              <a:srgbClr val="2F5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97696" y="1600200"/>
            <a:ext cx="54864" cy="3337560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0576" y="1746504"/>
            <a:ext cx="2240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 Display"/>
              </a:rPr>
              <a:t>DAILY PRACTICE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2148840"/>
            <a:ext cx="2240279" cy="2679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i="0">
                <a:solidFill>
                  <a:srgbClr val="DCE4E1"/>
                </a:solidFill>
                <a:latin typeface="Aptos"/>
              </a:rPr>
              <a:t>Prayer times and other useful Islamic utilities.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349240"/>
            <a:ext cx="10241280" cy="731520"/>
          </a:xfrm>
          <a:prstGeom prst="roundRect">
            <a:avLst/>
          </a:prstGeom>
          <a:solidFill>
            <a:srgbClr val="164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5422392"/>
            <a:ext cx="365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C29737"/>
                </a:solidFill>
                <a:latin typeface="Georgia"/>
              </a:rPr>
              <a:t>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513831"/>
            <a:ext cx="9464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Georgia"/>
              </a:rPr>
              <a:t>The purpose was access: make beneficial Islamic knowledge and guidance easier to reach in everyday life.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55664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B2C1BD"/>
                </a:solidFill>
                <a:latin typeface="Aptos"/>
              </a:rPr>
              <a:t>SEEKER  •  HUZAIF MUSHTAQ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B2C1BD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C29737"/>
                </a:solidFill>
                <a:latin typeface="Aptos"/>
              </a:rPr>
              <a:t>04 • PRODUCT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881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82221"/>
                </a:solidFill>
                <a:latin typeface="Aptos Display"/>
              </a:rPr>
              <a:t>From a closed identity to an open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5272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 i="0">
                <a:solidFill>
                  <a:srgbClr val="636D6A"/>
                </a:solidFill>
                <a:latin typeface="Aptos"/>
              </a:rPr>
              <a:t>The Tareeqat → Classes decision changed who Seeker could serve.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32461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72768"/>
            <a:ext cx="54864" cy="3611880"/>
          </a:xfrm>
          <a:prstGeom prst="rect">
            <a:avLst/>
          </a:prstGeom>
          <a:solidFill>
            <a:srgbClr val="8B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19072"/>
            <a:ext cx="29260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82221"/>
                </a:solidFill>
                <a:latin typeface="Aptos Display"/>
              </a:rPr>
              <a:t>ORIGINAL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21408"/>
            <a:ext cx="2926079" cy="2953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i="0">
                <a:solidFill>
                  <a:srgbClr val="1E2A28"/>
                </a:solidFill>
                <a:latin typeface="Aptos"/>
              </a:rPr>
              <a:t>Tareeqat-centered experience
Risk: people could perceive Seeker as belonging to one particular spiritual or jurisprudential circle.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3154680"/>
            <a:ext cx="502920" cy="384048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Triangle 11"/>
          <p:cNvSpPr/>
          <p:nvPr/>
        </p:nvSpPr>
        <p:spPr>
          <a:xfrm>
            <a:off x="4553712" y="3154680"/>
            <a:ext cx="201168" cy="384048"/>
          </a:xfrm>
          <a:prstGeom prst="rtTriangle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00600" y="1572768"/>
            <a:ext cx="27889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00600" y="1572768"/>
            <a:ext cx="54864" cy="3611880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1719072"/>
            <a:ext cx="24688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82221"/>
                </a:solidFill>
                <a:latin typeface="Aptos Display"/>
              </a:rPr>
              <a:t>THE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2121408"/>
            <a:ext cx="2468879" cy="2953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i="0">
                <a:solidFill>
                  <a:srgbClr val="1E2A28"/>
                </a:solidFill>
                <a:latin typeface="Aptos"/>
              </a:rPr>
              <a:t>If the purpose is to benefit people, why should the application feel restricted to people already inside our circle?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8120" y="3154680"/>
            <a:ext cx="502920" cy="384048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>
            <a:off x="8211312" y="3154680"/>
            <a:ext cx="201168" cy="384048"/>
          </a:xfrm>
          <a:prstGeom prst="rtTriangle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58200" y="1572768"/>
            <a:ext cx="27889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58200" y="1572768"/>
            <a:ext cx="54864" cy="3611880"/>
          </a:xfrm>
          <a:prstGeom prst="rect">
            <a:avLst/>
          </a:prstGeom>
          <a:solidFill>
            <a:srgbClr val="186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1719072"/>
            <a:ext cx="24688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82221"/>
                </a:solidFill>
                <a:latin typeface="Aptos Display"/>
              </a:rPr>
              <a:t>NEW DIRECTION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2121408"/>
            <a:ext cx="2468879" cy="2953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i="0">
                <a:solidFill>
                  <a:srgbClr val="1E2A28"/>
                </a:solidFill>
                <a:latin typeface="Aptos"/>
              </a:rPr>
              <a:t>Classes
Open learning for a wider audience, while still allowing people who want it to seek guidance from Peer Sahib.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486400"/>
            <a:ext cx="10241280" cy="640080"/>
          </a:xfrm>
          <a:prstGeom prst="roundRect">
            <a:avLst/>
          </a:prstGeom>
          <a:solidFill>
            <a:srgbClr val="F1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5559552"/>
            <a:ext cx="365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C29737"/>
                </a:solidFill>
                <a:latin typeface="Georgia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650992"/>
            <a:ext cx="9464040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 i="1">
                <a:solidFill>
                  <a:srgbClr val="082221"/>
                </a:solidFill>
                <a:latin typeface="Georgia"/>
              </a:rPr>
              <a:t>The door changed from “Are you part of this path?” to “Do you want to learn?”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55664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89908D"/>
                </a:solidFill>
                <a:latin typeface="Aptos"/>
              </a:rPr>
              <a:t>SEEKER  •  HUZAIF MUSHTAQ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89908D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C29737"/>
                </a:solidFill>
                <a:latin typeface="Aptos"/>
              </a:rPr>
              <a:t>05 • COMMUNITY &amp;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881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82221"/>
                </a:solidFill>
                <a:latin typeface="Aptos Display"/>
              </a:rPr>
              <a:t>Kashmir became the community; Kashmiri emerged from the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5272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 i="0">
                <a:solidFill>
                  <a:srgbClr val="636D6A"/>
                </a:solidFill>
                <a:latin typeface="Aptos"/>
              </a:rPr>
              <a:t>The two decisions happened for different reasons.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4290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E7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54864" cy="3886200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46504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82221"/>
                </a:solidFill>
                <a:latin typeface="Aptos Display"/>
              </a:rPr>
              <a:t>WHY KASHMIR?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3108960" cy="3227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i="0">
                <a:solidFill>
                  <a:srgbClr val="1E2A28"/>
                </a:solidFill>
                <a:latin typeface="Aptos"/>
              </a:rPr>
              <a:t>The goal was to make people better and move towards Allah. Kashmir is home, deeply loved, and the natural place to begin serving a community I know.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600200"/>
            <a:ext cx="34290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E7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9976" y="1600200"/>
            <a:ext cx="54864" cy="3886200"/>
          </a:xfrm>
          <a:prstGeom prst="rect">
            <a:avLst/>
          </a:prstGeom>
          <a:solidFill>
            <a:srgbClr val="186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1746504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82221"/>
                </a:solidFill>
                <a:latin typeface="Aptos Display"/>
              </a:rPr>
              <a:t>WHAT THE RESEARCH FOUND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148840"/>
            <a:ext cx="3108960" cy="3227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i="0">
                <a:solidFill>
                  <a:srgbClr val="1E2A28"/>
                </a:solidFill>
                <a:latin typeface="Aptos"/>
              </a:rPr>
              <a:t>I explored GitHub repositories, QUL, Sunnah.com and other Islamic resources. Structured Kashmiri material was limited—especially for Duas, Adhkar and Hadith books.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4152" y="1600200"/>
            <a:ext cx="34290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E7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4152" y="1600200"/>
            <a:ext cx="54864" cy="3886200"/>
          </a:xfrm>
          <a:prstGeom prst="rect">
            <a:avLst/>
          </a:prstGeom>
          <a:solidFill>
            <a:srgbClr val="2A7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1746504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82221"/>
                </a:solidFill>
                <a:latin typeface="Aptos Display"/>
              </a:rPr>
              <a:t>THE PRACTICAL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2148840"/>
            <a:ext cx="3108960" cy="3227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i="0">
                <a:solidFill>
                  <a:srgbClr val="1E2A28"/>
                </a:solidFill>
                <a:latin typeface="Aptos"/>
              </a:rPr>
              <a:t>Where reliable Kashmiri material was unavailable, Urdu was used comfortably instead of blocking the product. Meanwhile, the search for better Kashmiri resources continued.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687568"/>
            <a:ext cx="10378440" cy="566928"/>
          </a:xfrm>
          <a:prstGeom prst="roundRect">
            <a:avLst/>
          </a:prstGeom>
          <a:solidFill>
            <a:srgbClr val="F1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5760720"/>
            <a:ext cx="365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C29737"/>
                </a:solidFill>
                <a:latin typeface="Georgia"/>
              </a:rPr>
              <a:t>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19" y="5852159"/>
            <a:ext cx="9601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 i="1">
                <a:solidFill>
                  <a:srgbClr val="082221"/>
                </a:solidFill>
                <a:latin typeface="Georgia"/>
              </a:rPr>
              <a:t>Kashmiri was not added as a slogan. It emerged because building for Kashmir exposed a real content gap.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55664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89908D"/>
                </a:solidFill>
                <a:latin typeface="Aptos"/>
              </a:rPr>
              <a:t>SEEKER  •  HUZAIF MUSHTAQ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89908D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4747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C29737"/>
                </a:solidFill>
                <a:latin typeface="Aptos"/>
              </a:rPr>
              <a:t>06 • BEHAVIOURAL PHILOSOPHY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881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 Display"/>
              </a:rPr>
              <a:t>Make beneficial practice familiar — not forced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5272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 i="0">
                <a:solidFill>
                  <a:srgbClr val="C5D3CF"/>
                </a:solidFill>
                <a:latin typeface="Aptos"/>
              </a:rPr>
              <a:t>Wisdom, daily content, 5-minute Ibadah and personal progress serve one purpose.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874519"/>
            <a:ext cx="2084831" cy="3246120"/>
          </a:xfrm>
          <a:prstGeom prst="roundRect">
            <a:avLst/>
          </a:prstGeom>
          <a:solidFill>
            <a:srgbClr val="15433F"/>
          </a:solidFill>
          <a:ln>
            <a:solidFill>
              <a:srgbClr val="2F5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874519"/>
            <a:ext cx="54864" cy="3246120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020824"/>
            <a:ext cx="176479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 Display"/>
              </a:rPr>
              <a:t>SMALL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423160"/>
            <a:ext cx="1764791" cy="2587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DCE4E1"/>
                </a:solidFill>
                <a:latin typeface="Aptos"/>
              </a:rPr>
              <a:t>A short reflection, action or practice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87168" y="3246120"/>
            <a:ext cx="228600" cy="256032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Triangle 12"/>
          <p:cNvSpPr/>
          <p:nvPr/>
        </p:nvSpPr>
        <p:spPr>
          <a:xfrm>
            <a:off x="2606039" y="3246120"/>
            <a:ext cx="201168" cy="256032"/>
          </a:xfrm>
          <a:prstGeom prst="rtTriangle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34056" y="1874519"/>
            <a:ext cx="2084831" cy="3246120"/>
          </a:xfrm>
          <a:prstGeom prst="roundRect">
            <a:avLst/>
          </a:prstGeom>
          <a:solidFill>
            <a:srgbClr val="15433F"/>
          </a:solidFill>
          <a:ln>
            <a:solidFill>
              <a:srgbClr val="2F5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34056" y="1874519"/>
            <a:ext cx="54864" cy="3246120"/>
          </a:xfrm>
          <a:prstGeom prst="rect">
            <a:avLst/>
          </a:prstGeom>
          <a:solidFill>
            <a:srgbClr val="186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16936" y="2020824"/>
            <a:ext cx="176479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 Display"/>
              </a:rPr>
              <a:t>REPEAT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6936" y="2423160"/>
            <a:ext cx="1764791" cy="2587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DCE4E1"/>
                </a:solidFill>
                <a:latin typeface="Aptos"/>
              </a:rPr>
              <a:t>Return naturally tomorrow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37175" y="3246120"/>
            <a:ext cx="228600" cy="256032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>
            <a:off x="4956047" y="3246120"/>
            <a:ext cx="201168" cy="256032"/>
          </a:xfrm>
          <a:prstGeom prst="rtTriangle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84064" y="1874519"/>
            <a:ext cx="2084831" cy="3246120"/>
          </a:xfrm>
          <a:prstGeom prst="roundRect">
            <a:avLst/>
          </a:prstGeom>
          <a:solidFill>
            <a:srgbClr val="15433F"/>
          </a:solidFill>
          <a:ln>
            <a:solidFill>
              <a:srgbClr val="2F5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4064" y="1874519"/>
            <a:ext cx="54864" cy="3246120"/>
          </a:xfrm>
          <a:prstGeom prst="rect">
            <a:avLst/>
          </a:prstGeom>
          <a:solidFill>
            <a:srgbClr val="186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66944" y="2020824"/>
            <a:ext cx="176479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 Display"/>
              </a:rPr>
              <a:t>FAMILIAR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6944" y="2423160"/>
            <a:ext cx="1764791" cy="2587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DCE4E1"/>
                </a:solidFill>
                <a:latin typeface="Aptos"/>
              </a:rPr>
              <a:t>It stops feeling new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87183" y="3246120"/>
            <a:ext cx="228600" cy="256032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Triangle 24"/>
          <p:cNvSpPr/>
          <p:nvPr/>
        </p:nvSpPr>
        <p:spPr>
          <a:xfrm>
            <a:off x="7306055" y="3246120"/>
            <a:ext cx="201168" cy="256032"/>
          </a:xfrm>
          <a:prstGeom prst="rtTriangle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34071" y="1874519"/>
            <a:ext cx="2084831" cy="3246120"/>
          </a:xfrm>
          <a:prstGeom prst="roundRect">
            <a:avLst/>
          </a:prstGeom>
          <a:solidFill>
            <a:srgbClr val="15433F"/>
          </a:solidFill>
          <a:ln>
            <a:solidFill>
              <a:srgbClr val="2F5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34071" y="1874519"/>
            <a:ext cx="54864" cy="3246120"/>
          </a:xfrm>
          <a:prstGeom prst="rect">
            <a:avLst/>
          </a:prstGeom>
          <a:solidFill>
            <a:srgbClr val="186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16951" y="2020824"/>
            <a:ext cx="176479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 Display"/>
              </a:rPr>
              <a:t>HABIT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16951" y="2423160"/>
            <a:ext cx="1764791" cy="2587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DCE4E1"/>
                </a:solidFill>
                <a:latin typeface="Aptos"/>
              </a:rPr>
              <a:t>Small actions become routine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7192" y="3246120"/>
            <a:ext cx="228600" cy="256032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Triangle 30"/>
          <p:cNvSpPr/>
          <p:nvPr/>
        </p:nvSpPr>
        <p:spPr>
          <a:xfrm>
            <a:off x="9656064" y="3246120"/>
            <a:ext cx="201168" cy="256032"/>
          </a:xfrm>
          <a:prstGeom prst="rtTriangle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784080" y="1874519"/>
            <a:ext cx="2084831" cy="3246120"/>
          </a:xfrm>
          <a:prstGeom prst="roundRect">
            <a:avLst/>
          </a:prstGeom>
          <a:solidFill>
            <a:srgbClr val="15433F"/>
          </a:solidFill>
          <a:ln>
            <a:solidFill>
              <a:srgbClr val="2F5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784080" y="1874519"/>
            <a:ext cx="54864" cy="3246120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59" y="2020824"/>
            <a:ext cx="176479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 Display"/>
              </a:rPr>
              <a:t>DIRECTION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59" y="2423160"/>
            <a:ext cx="1764791" cy="2587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DCE4E1"/>
                </a:solidFill>
                <a:latin typeface="Aptos"/>
              </a:rPr>
              <a:t>A quiet movement towards Allah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5486400"/>
            <a:ext cx="10424160" cy="713232"/>
          </a:xfrm>
          <a:prstGeom prst="roundRect">
            <a:avLst/>
          </a:prstGeom>
          <a:solidFill>
            <a:srgbClr val="164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9848" y="5559552"/>
            <a:ext cx="365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C29737"/>
                </a:solidFill>
                <a:latin typeface="Georgia"/>
              </a:rPr>
              <a:t>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19" y="5650992"/>
            <a:ext cx="96469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0" i="1">
                <a:solidFill>
                  <a:srgbClr val="FFFFFF"/>
                </a:solidFill>
                <a:latin typeface="Georgia"/>
              </a:rPr>
              <a:t>Success is not keeping the user inside Seeker. Success is helping the user do something beneficial after leaving it.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455664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B2C1BD"/>
                </a:solidFill>
                <a:latin typeface="Aptos"/>
              </a:rPr>
              <a:t>SEEKER  •  HUZAIF MUSHTAQ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B2C1BD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C29737"/>
                </a:solidFill>
                <a:latin typeface="Aptos"/>
              </a:rPr>
              <a:t>07 • CURRENT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881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82221"/>
                </a:solidFill>
                <a:latin typeface="Aptos Display"/>
              </a:rPr>
              <a:t>Five pillars now form the Seeker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5272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 i="0">
                <a:solidFill>
                  <a:srgbClr val="636D6A"/>
                </a:solidFill>
                <a:latin typeface="Aptos"/>
              </a:rPr>
              <a:t>The repository's current main navigation is Home → Quran → Classes → Hadith → Profile.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828800"/>
            <a:ext cx="2121408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7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1828800"/>
            <a:ext cx="54864" cy="3520440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975104"/>
            <a:ext cx="18013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82221"/>
                </a:solidFill>
                <a:latin typeface="Aptos Display"/>
              </a:rP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377440"/>
            <a:ext cx="1801367" cy="2862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1E2A28"/>
                </a:solidFill>
                <a:latin typeface="Aptos"/>
              </a:rPr>
              <a:t>Daily Islamic dashboard
Prayer intelligence • daily content • practice • continuation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0632" y="1828800"/>
            <a:ext cx="2121408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7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70632" y="1828800"/>
            <a:ext cx="54864" cy="3520440"/>
          </a:xfrm>
          <a:prstGeom prst="rect">
            <a:avLst/>
          </a:prstGeom>
          <a:solidFill>
            <a:srgbClr val="186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1975104"/>
            <a:ext cx="18013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82221"/>
                </a:solidFill>
                <a:latin typeface="Aptos Display"/>
              </a:rPr>
              <a:t>QURAN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2377440"/>
            <a:ext cx="1801367" cy="2862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1E2A28"/>
                </a:solidFill>
                <a:latin typeface="Aptos"/>
              </a:rPr>
              <a:t>Read &amp; understand
Arabic • Kashmiri translation • Tafsir • progress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02352" y="1828800"/>
            <a:ext cx="2121408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7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02352" y="1828800"/>
            <a:ext cx="54864" cy="3520440"/>
          </a:xfrm>
          <a:prstGeom prst="rect">
            <a:avLst/>
          </a:prstGeom>
          <a:solidFill>
            <a:srgbClr val="2A7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85232" y="1975104"/>
            <a:ext cx="18013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82221"/>
                </a:solidFill>
                <a:latin typeface="Aptos Display"/>
              </a:rPr>
              <a:t>CLASSES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5232" y="2377440"/>
            <a:ext cx="1801367" cy="2862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1E2A28"/>
                </a:solidFill>
                <a:latin typeface="Aptos"/>
              </a:rPr>
              <a:t>Learn systematically
Learning paths • lessons • live classes • guidance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34071" y="1828800"/>
            <a:ext cx="2121408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7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34071" y="1828800"/>
            <a:ext cx="54864" cy="3520440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16951" y="1975104"/>
            <a:ext cx="18013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82221"/>
                </a:solidFill>
                <a:latin typeface="Aptos Display"/>
              </a:rPr>
              <a:t>HADITH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1" y="2377440"/>
            <a:ext cx="1801367" cy="2862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1E2A28"/>
                </a:solidFill>
                <a:latin typeface="Aptos"/>
              </a:rPr>
              <a:t>A persistent knowledge library
Collections • reader • bookmarks • progress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65792" y="1828800"/>
            <a:ext cx="2121408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7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65792" y="1828800"/>
            <a:ext cx="54864" cy="3520440"/>
          </a:xfrm>
          <a:prstGeom prst="rect">
            <a:avLst/>
          </a:prstGeom>
          <a:solidFill>
            <a:srgbClr val="186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48672" y="1975104"/>
            <a:ext cx="18013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82221"/>
                </a:solidFill>
                <a:latin typeface="Aptos Display"/>
              </a:rPr>
              <a:t>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48672" y="2377440"/>
            <a:ext cx="1801367" cy="2862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1E2A28"/>
                </a:solidFill>
                <a:latin typeface="Aptos"/>
              </a:rPr>
              <a:t>See the journey
Daily practice • learning progress • personal continuity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532120"/>
            <a:ext cx="10424160" cy="658368"/>
          </a:xfrm>
          <a:prstGeom prst="roundRect">
            <a:avLst/>
          </a:prstGeom>
          <a:solidFill>
            <a:srgbClr val="F1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9848" y="5605272"/>
            <a:ext cx="365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C29737"/>
                </a:solidFill>
                <a:latin typeface="Georgia"/>
              </a:rPr>
              <a:t>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19" y="5696712"/>
            <a:ext cx="9646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 i="1">
                <a:solidFill>
                  <a:srgbClr val="082221"/>
                </a:solidFill>
                <a:latin typeface="Georgia"/>
              </a:rPr>
              <a:t>The product is no longer a collection of utilities; it is becoming a connected Islamic learning journey.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55664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89908D"/>
                </a:solidFill>
                <a:latin typeface="Aptos"/>
              </a:rPr>
              <a:t>SEEKER  •  HUZAIF MUSHTAQ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89908D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C29737"/>
                </a:solidFill>
                <a:latin typeface="Aptos"/>
              </a:rPr>
              <a:t>08 • KNOWLEDGE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881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82221"/>
                </a:solidFill>
                <a:latin typeface="Aptos Display"/>
              </a:rPr>
              <a:t>Quran + Hadith are designed as experiences, not static pages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5272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 i="0">
                <a:solidFill>
                  <a:srgbClr val="636D6A"/>
                </a:solidFill>
                <a:latin typeface="Aptos"/>
              </a:rPr>
              <a:t>The strongest current implementation is the knowledge layer.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3949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7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54864" cy="4343400"/>
          </a:xfrm>
          <a:prstGeom prst="rect">
            <a:avLst/>
          </a:prstGeom>
          <a:solidFill>
            <a:srgbClr val="186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55063"/>
            <a:ext cx="5074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82221"/>
                </a:solidFill>
                <a:latin typeface="Aptos Display"/>
              </a:rPr>
              <a:t>QURAN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057400"/>
            <a:ext cx="5074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i="0">
                <a:solidFill>
                  <a:srgbClr val="1E2A28"/>
                </a:solidFill>
                <a:latin typeface="Aptos"/>
              </a:rPr>
              <a:t>• Arabic Quran
• Koshur Tarjuma
• Koshur Tafsir
• Bayan-ul-Furqan translation
• Tafsir resources
• Ayah-level Continue Reading
• Mode-specific progress
• Local assets + caching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508760"/>
            <a:ext cx="53492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7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508760"/>
            <a:ext cx="54864" cy="4343400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655063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82221"/>
                </a:solidFill>
                <a:latin typeface="Aptos Display"/>
              </a:rPr>
              <a:t>HADITH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57400"/>
            <a:ext cx="502920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i="0">
                <a:solidFill>
                  <a:srgbClr val="1E2A28"/>
                </a:solidFill>
                <a:latin typeface="Aptos"/>
              </a:rPr>
              <a:t>• Bukhari • Muslim • Abu Dawud
• Tirmidhi • Nasa'i • Ibn Majah
• Collection → Book → Chapter → Hadith
• Continue Reading
• Bookmarks
• Search
• Hadith of the Day / shareable content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55664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89908D"/>
                </a:solidFill>
                <a:latin typeface="Aptos"/>
              </a:rPr>
              <a:t>SEEKER  •  HUZAIF MUSHTAQ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89908D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4747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C29737"/>
                </a:solidFill>
                <a:latin typeface="Aptos"/>
              </a:rPr>
              <a:t>09 •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881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 Display"/>
              </a:rPr>
              <a:t>A local-first content architecture with a connected application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5272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 i="0">
                <a:solidFill>
                  <a:srgbClr val="C5D3CF"/>
                </a:solidFill>
                <a:latin typeface="Aptos"/>
              </a:rPr>
              <a:t>The technical choices are driven by speed, reliability, offline access and maintainability.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08760"/>
            <a:ext cx="10515600" cy="621792"/>
          </a:xfrm>
          <a:prstGeom prst="roundRect">
            <a:avLst/>
          </a:prstGeom>
          <a:solidFill>
            <a:srgbClr val="174641"/>
          </a:solidFill>
          <a:ln>
            <a:solidFill>
              <a:srgbClr val="376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00200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C29737"/>
                </a:solidFill>
                <a:latin typeface="Aptos"/>
              </a:rPr>
              <a:t>Flutter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600200"/>
            <a:ext cx="7772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 i="0">
                <a:solidFill>
                  <a:srgbClr val="FFFFFF"/>
                </a:solidFill>
                <a:latin typeface="Aptos"/>
              </a:rPr>
              <a:t>Screens + reusable widgets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" y="2359152"/>
            <a:ext cx="10012680" cy="621792"/>
          </a:xfrm>
          <a:prstGeom prst="roundRect">
            <a:avLst/>
          </a:prstGeom>
          <a:solidFill>
            <a:srgbClr val="1C4E48"/>
          </a:solidFill>
          <a:ln>
            <a:solidFill>
              <a:srgbClr val="376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07592" y="2450592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C29737"/>
                </a:solidFill>
                <a:latin typeface="Aptos"/>
              </a:rPr>
              <a:t>Services / repositories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450592"/>
            <a:ext cx="72694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 i="0">
                <a:solidFill>
                  <a:srgbClr val="FFFFFF"/>
                </a:solidFill>
                <a:latin typeface="Aptos"/>
              </a:rPr>
              <a:t>Separate content assembly and application logic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35024" y="3209544"/>
            <a:ext cx="9509760" cy="621792"/>
          </a:xfrm>
          <a:prstGeom prst="roundRect">
            <a:avLst/>
          </a:prstGeom>
          <a:solidFill>
            <a:srgbClr val="174641"/>
          </a:solidFill>
          <a:ln>
            <a:solidFill>
              <a:srgbClr val="376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63624" y="3300984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C29737"/>
                </a:solidFill>
                <a:latin typeface="Aptos"/>
              </a:rPr>
              <a:t>Local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9624" y="3300984"/>
            <a:ext cx="6766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 i="0">
                <a:solidFill>
                  <a:srgbClr val="FFFFFF"/>
                </a:solidFill>
                <a:latin typeface="Aptos"/>
              </a:rPr>
              <a:t>Bundled JSON / Quran resources / Hadith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91056" y="4059935"/>
            <a:ext cx="9006840" cy="621792"/>
          </a:xfrm>
          <a:prstGeom prst="roundRect">
            <a:avLst/>
          </a:prstGeom>
          <a:solidFill>
            <a:srgbClr val="1C4E48"/>
          </a:solidFill>
          <a:ln>
            <a:solidFill>
              <a:srgbClr val="376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19656" y="4151375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C29737"/>
                </a:solidFill>
                <a:latin typeface="Aptos"/>
              </a:rPr>
              <a:t>Caching &amp; preferences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5656" y="4151375"/>
            <a:ext cx="6263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 i="0">
                <a:solidFill>
                  <a:srgbClr val="FFFFFF"/>
                </a:solidFill>
                <a:latin typeface="Aptos"/>
              </a:rPr>
              <a:t>Fast repeated access + reading continuity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47088" y="4910328"/>
            <a:ext cx="8503920" cy="621792"/>
          </a:xfrm>
          <a:prstGeom prst="roundRect">
            <a:avLst/>
          </a:prstGeom>
          <a:solidFill>
            <a:srgbClr val="174641"/>
          </a:solidFill>
          <a:ln>
            <a:solidFill>
              <a:srgbClr val="376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75688" y="5001768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C29737"/>
                </a:solidFill>
                <a:latin typeface="Aptos"/>
              </a:rPr>
              <a:t>Firebase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5001768"/>
            <a:ext cx="5760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 i="0">
                <a:solidFill>
                  <a:srgbClr val="FFFFFF"/>
                </a:solidFill>
                <a:latin typeface="Aptos"/>
              </a:rPr>
              <a:t>Authentication / Firestore / Storage / Messaging capability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5989320"/>
            <a:ext cx="10424160" cy="530352"/>
          </a:xfrm>
          <a:prstGeom prst="roundRect">
            <a:avLst/>
          </a:prstGeom>
          <a:solidFill>
            <a:srgbClr val="164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" y="6062472"/>
            <a:ext cx="365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C29737"/>
                </a:solidFill>
                <a:latin typeface="Georgia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6153912"/>
            <a:ext cx="9646920" cy="2560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FFFFFF"/>
                </a:solidFill>
                <a:latin typeface="Georgia"/>
              </a:rPr>
              <a:t>Design principle: core religious reading should not depend on a network request every time the user opens an Ayah or Hadith.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55664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B2C1BD"/>
                </a:solidFill>
                <a:latin typeface="Aptos"/>
              </a:rPr>
              <a:t>SEEKER  •  HUZAIF MUSHTAQ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B2C1BD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C29737"/>
                </a:solidFill>
                <a:latin typeface="Aptos"/>
              </a:rPr>
              <a:t>10 • CURRENT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881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82221"/>
                </a:solidFill>
                <a:latin typeface="Aptos Display"/>
              </a:rPr>
              <a:t>A working foundation with clear areas still to mature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5272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 i="0">
                <a:solidFill>
                  <a:srgbClr val="636D6A"/>
                </a:solidFill>
                <a:latin typeface="Aptos"/>
              </a:rPr>
              <a:t>This slide deliberately separates implemented foundations from future production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63040"/>
            <a:ext cx="54406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463040"/>
            <a:ext cx="54864" cy="4480560"/>
          </a:xfrm>
          <a:prstGeom prst="rect">
            <a:avLst/>
          </a:prstGeom>
          <a:solidFill>
            <a:srgbClr val="186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609344"/>
            <a:ext cx="5120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82221"/>
                </a:solidFill>
                <a:latin typeface="Aptos Display"/>
              </a:rPr>
              <a:t>ESTABLISHED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11680"/>
            <a:ext cx="5120640" cy="3822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i="0">
                <a:solidFill>
                  <a:srgbClr val="1E2A28"/>
                </a:solidFill>
                <a:latin typeface="Aptos"/>
              </a:rPr>
              <a:t>✓ Main app architecture
✓ Home + prayer intelligence
✓ Quran reading / translation / Tafsir architecture
✓ Quran progress &amp; caching
✓ Hadith collections / reader / bookmarks / progress
✓ Classes and Profile product structure
✓ Local content strategy
✓ Firebase application infrastructure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46304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463040"/>
            <a:ext cx="54864" cy="4480560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609344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82221"/>
                </a:solidFill>
                <a:latin typeface="Aptos Display"/>
              </a:rPr>
              <a:t>NEXT MATURITY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11680"/>
            <a:ext cx="5029200" cy="3822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i="0">
                <a:solidFill>
                  <a:srgbClr val="1E2A28"/>
                </a:solidFill>
                <a:latin typeface="Aptos"/>
              </a:rPr>
              <a:t>→ Full backend-driven Classes ecosystem
→ Real user-linked journey data everywhere
→ Larger verified Kashmiri content corpus
→ Scholar/content review workflow
→ Admin / content management system
→ Testing, security and production hardening
→ Reliable synchronization and scalable release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55664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89908D"/>
                </a:solidFill>
                <a:latin typeface="Aptos"/>
              </a:rPr>
              <a:t>SEEKER  •  HUZAIF MUSHTAQ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89908D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C29737"/>
                </a:solidFill>
                <a:latin typeface="Aptos"/>
              </a:rPr>
              <a:t>11 •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881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82221"/>
                </a:solidFill>
                <a:latin typeface="Aptos Display"/>
              </a:rPr>
              <a:t>Depth first. Expansion second.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5272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 i="0">
                <a:solidFill>
                  <a:srgbClr val="636D6A"/>
                </a:solidFill>
                <a:latin typeface="Aptos"/>
              </a:rPr>
              <a:t>The future is not “more buttons”; it is a deeper and more trustworthy knowledge ecosystem.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1031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7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54864" cy="4251960"/>
          </a:xfrm>
          <a:prstGeom prst="rect">
            <a:avLst/>
          </a:prstGeom>
          <a:solidFill>
            <a:srgbClr val="186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83664"/>
            <a:ext cx="17830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82221"/>
                </a:solidFill>
                <a:latin typeface="Aptos Display"/>
              </a:rPr>
              <a:t>01
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1783079" cy="3593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1E2A28"/>
                </a:solidFill>
                <a:latin typeface="Aptos"/>
              </a:rPr>
              <a:t>Finish the daily companion
Reliable reading, practice, progress and performance.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1737360"/>
            <a:ext cx="21031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7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39" y="1737360"/>
            <a:ext cx="54864" cy="4251960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1883664"/>
            <a:ext cx="17830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82221"/>
                </a:solidFill>
                <a:latin typeface="Aptos Display"/>
              </a:rPr>
              <a:t>02
KASHMIRI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286000"/>
            <a:ext cx="1783079" cy="3593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1E2A28"/>
                </a:solidFill>
                <a:latin typeface="Aptos"/>
              </a:rPr>
              <a:t>Build the content layer
Verified Quran, Tafsir, Hadith, Duas, Adhkar and explanations.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1737360"/>
            <a:ext cx="21031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7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66359" y="1737360"/>
            <a:ext cx="54864" cy="4251960"/>
          </a:xfrm>
          <a:prstGeom prst="rect">
            <a:avLst/>
          </a:prstGeom>
          <a:solidFill>
            <a:srgbClr val="186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1883664"/>
            <a:ext cx="17830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82221"/>
                </a:solidFill>
                <a:latin typeface="Aptos Display"/>
              </a:rPr>
              <a:t>03
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286000"/>
            <a:ext cx="1783079" cy="3593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1E2A28"/>
                </a:solidFill>
                <a:latin typeface="Aptos"/>
              </a:rPr>
              <a:t>Build real education
Courses, lessons, teachers, live classes and learning progress.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737360"/>
            <a:ext cx="21031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7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1737360"/>
            <a:ext cx="54864" cy="4251960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59" y="1883664"/>
            <a:ext cx="17830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82221"/>
                </a:solidFill>
                <a:latin typeface="Aptos Display"/>
              </a:rPr>
              <a:t>04
GUIDANCE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2286000"/>
            <a:ext cx="1783079" cy="3593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1E2A28"/>
                </a:solidFill>
                <a:latin typeface="Aptos"/>
              </a:rPr>
              <a:t>Add responsible human support
Optional Q&amp;A and trusted scholar / Peer guidance.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1737360"/>
            <a:ext cx="21031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7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29800" y="1737360"/>
            <a:ext cx="54864" cy="4251960"/>
          </a:xfrm>
          <a:prstGeom prst="rect">
            <a:avLst/>
          </a:prstGeom>
          <a:solidFill>
            <a:srgbClr val="186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12680" y="1883664"/>
            <a:ext cx="17830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82221"/>
                </a:solidFill>
                <a:latin typeface="Aptos Display"/>
              </a:rPr>
              <a:t>05
ECOSYSTEM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2286000"/>
            <a:ext cx="1783079" cy="3593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1E2A28"/>
                </a:solidFill>
                <a:latin typeface="Aptos"/>
              </a:rPr>
              <a:t>Scale the benefit
Educators, institutions, community resources and broader language access.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55664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89908D"/>
                </a:solidFill>
                <a:latin typeface="Aptos"/>
              </a:rPr>
              <a:t>SEEKER  •  HUZAIF MUSHTAQ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89908D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4747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C29737"/>
                </a:solidFill>
                <a:latin typeface="Aptos"/>
              </a:rPr>
              <a:t>12 • WHY SEEKER CAN MATTER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881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 Display"/>
              </a:rPr>
              <a:t>The opportunity is the combination, not any single 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5272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 i="0">
                <a:solidFill>
                  <a:srgbClr val="C5D3CF"/>
                </a:solidFill>
                <a:latin typeface="Aptos"/>
              </a:rPr>
              <a:t>A credible long-term product is built around access, continuity, Kashmiri depth and trust.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2651760" cy="4251960"/>
          </a:xfrm>
          <a:prstGeom prst="roundRect">
            <a:avLst/>
          </a:prstGeom>
          <a:solidFill>
            <a:srgbClr val="15433F"/>
          </a:solidFill>
          <a:ln>
            <a:solidFill>
              <a:srgbClr val="2F5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481328"/>
            <a:ext cx="54864" cy="4251960"/>
          </a:xfrm>
          <a:prstGeom prst="rect">
            <a:avLst/>
          </a:prstGeom>
          <a:solidFill>
            <a:srgbClr val="186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627632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 Display"/>
              </a:rPr>
              <a:t>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029968"/>
            <a:ext cx="2331720" cy="3593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i="0">
                <a:solidFill>
                  <a:srgbClr val="DCE4E1"/>
                </a:solidFill>
                <a:latin typeface="Aptos"/>
              </a:rPr>
              <a:t>Bring Islamic knowledge, learning and practice into one continuous experience.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1481328"/>
            <a:ext cx="2651760" cy="4251960"/>
          </a:xfrm>
          <a:prstGeom prst="roundRect">
            <a:avLst/>
          </a:prstGeom>
          <a:solidFill>
            <a:srgbClr val="15433F"/>
          </a:solidFill>
          <a:ln>
            <a:solidFill>
              <a:srgbClr val="2F5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93008" y="1481328"/>
            <a:ext cx="54864" cy="4251960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7" y="1627632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 Display"/>
              </a:rPr>
              <a:t>KASHMIRI DEPTH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2029968"/>
            <a:ext cx="2331720" cy="3593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i="0">
                <a:solidFill>
                  <a:srgbClr val="DCE4E1"/>
                </a:solidFill>
                <a:latin typeface="Aptos"/>
              </a:rPr>
              <a:t>Turn a content gap into a long-term knowledge mission for Kashmiri users.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1481328"/>
            <a:ext cx="2651760" cy="4251960"/>
          </a:xfrm>
          <a:prstGeom prst="roundRect">
            <a:avLst/>
          </a:prstGeom>
          <a:solidFill>
            <a:srgbClr val="15433F"/>
          </a:solidFill>
          <a:ln>
            <a:solidFill>
              <a:srgbClr val="2F5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27648" y="1481328"/>
            <a:ext cx="54864" cy="4251960"/>
          </a:xfrm>
          <a:prstGeom prst="rect">
            <a:avLst/>
          </a:prstGeom>
          <a:solidFill>
            <a:srgbClr val="2A7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1627632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 Display"/>
              </a:rPr>
              <a:t>CONTINUITY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029968"/>
            <a:ext cx="2331720" cy="3593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i="0">
                <a:solidFill>
                  <a:srgbClr val="DCE4E1"/>
                </a:solidFill>
                <a:latin typeface="Aptos"/>
              </a:rPr>
              <a:t>Help users move from reading → learning → practice → personal progress.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62288" y="1481328"/>
            <a:ext cx="2331720" cy="4251960"/>
          </a:xfrm>
          <a:prstGeom prst="roundRect">
            <a:avLst/>
          </a:prstGeom>
          <a:solidFill>
            <a:srgbClr val="15433F"/>
          </a:solidFill>
          <a:ln>
            <a:solidFill>
              <a:srgbClr val="2F5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62288" y="1481328"/>
            <a:ext cx="54864" cy="4251960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45167" y="1627632"/>
            <a:ext cx="20116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 Display"/>
              </a:rPr>
              <a:t>TRUST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5167" y="2029968"/>
            <a:ext cx="2011679" cy="3593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i="0">
                <a:solidFill>
                  <a:srgbClr val="DCE4E1"/>
                </a:solidFill>
                <a:latin typeface="Aptos"/>
              </a:rPr>
              <a:t>Build around verified sources, attribution and responsible scholarly review.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897880"/>
            <a:ext cx="10424160" cy="502920"/>
          </a:xfrm>
          <a:prstGeom prst="roundRect">
            <a:avLst/>
          </a:prstGeom>
          <a:solidFill>
            <a:srgbClr val="164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5971032"/>
            <a:ext cx="365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C29737"/>
                </a:solidFill>
                <a:latin typeface="Georgia"/>
              </a:rPr>
              <a:t>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19" y="6062472"/>
            <a:ext cx="9646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FFFFFF"/>
                </a:solidFill>
                <a:latin typeface="Georgia"/>
              </a:rPr>
              <a:t>A strong Seeker is not the app with the most features. It is the app that makes beneficial knowledge easier to access, understand and live.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55664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B2C1BD"/>
                </a:solidFill>
                <a:latin typeface="Aptos"/>
              </a:rPr>
              <a:t>SEEKER  •  HUZAIF MUSHTAQ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B2C1BD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2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65836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29737"/>
                </a:solidFill>
                <a:latin typeface="Aptos"/>
              </a:rPr>
              <a:t>THE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143000"/>
            <a:ext cx="65836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ptos Display"/>
              </a:rPr>
              <a:t>From information
to transformation.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CAD9D4"/>
                </a:solidFill>
                <a:latin typeface="Aptos"/>
              </a:rPr>
              <a:t>Seeker should ultimately help a person: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246120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29737"/>
                </a:solidFill>
                <a:latin typeface="Aptos"/>
              </a:rP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1367" y="3227832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Aptos"/>
              </a:rPr>
              <a:t>Find beneficial knowledge.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3246120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29737"/>
                </a:solidFill>
                <a:latin typeface="Aptos"/>
              </a:rP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8" y="3227832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Aptos"/>
              </a:rPr>
              <a:t>Access meaning in familiar language.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8" y="3246120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29737"/>
                </a:solidFill>
                <a:latin typeface="Aptos"/>
              </a:rPr>
              <a:t>LEARN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16568" y="3227832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Aptos"/>
              </a:rPr>
              <a:t>Follow a structured path.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389120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29737"/>
                </a:solidFill>
                <a:latin typeface="Aptos"/>
              </a:rPr>
              <a:t>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1367" y="4370832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Aptos"/>
              </a:rPr>
              <a:t>Turn small actions into habits.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4389120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29737"/>
                </a:solidFill>
                <a:latin typeface="Aptos"/>
              </a:rPr>
              <a:t>GROW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58968" y="4370832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Aptos"/>
              </a:rPr>
              <a:t>Continue a personal journey.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4389120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29737"/>
                </a:solidFill>
                <a:latin typeface="Aptos"/>
              </a:rPr>
              <a:t>GUIDANCE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4370832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Aptos"/>
              </a:rPr>
              <a:t>Seek trusted human guidance when desired.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806440"/>
            <a:ext cx="10607040" cy="566928"/>
          </a:xfrm>
          <a:prstGeom prst="roundRect">
            <a:avLst/>
          </a:prstGeom>
          <a:solidFill>
            <a:srgbClr val="164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5879592"/>
            <a:ext cx="365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C29737"/>
                </a:solidFill>
                <a:latin typeface="Georgia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971031"/>
            <a:ext cx="9829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80" b="0" i="1">
                <a:solidFill>
                  <a:srgbClr val="FFFFFF"/>
                </a:solidFill>
                <a:latin typeface="Georgia"/>
              </a:rPr>
              <a:t>“A place where a person can discover Islam, understand it, learn it, practice it consistently, and quietly continue moving towards Allah.”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68580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 i="0">
                <a:solidFill>
                  <a:srgbClr val="BBCDC8"/>
                </a:solidFill>
                <a:latin typeface="Aptos"/>
              </a:rPr>
              <a:t>HUZAIF MUSHTAQ  •  SEEKER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55664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B2C1BD"/>
                </a:solidFill>
                <a:latin typeface="Aptos"/>
              </a:rPr>
              <a:t>SEEKER  •  HUZAIF MUSHTAQ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B2C1BD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